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9" r:id="rId5"/>
    <p:sldId id="341" r:id="rId6"/>
    <p:sldId id="329" r:id="rId7"/>
    <p:sldId id="340" r:id="rId8"/>
    <p:sldId id="347" r:id="rId9"/>
    <p:sldId id="342" r:id="rId10"/>
    <p:sldId id="259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8706E-1E55-4BE3-9981-9E9409FA3F0E}" v="1" dt="2025-11-17T15:37:03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jane Betrand" userId="S::mb13afy@herts.ac.uk::9d690930-63dc-4257-8532-dd49e7e9cf4d" providerId="AD" clId="Web-{0130B3CF-C872-458A-6D82-FB5B649CA2D1}"/>
    <pc:docChg chg="modSld">
      <pc:chgData name="Maryjane Betrand" userId="S::mb13afy@herts.ac.uk::9d690930-63dc-4257-8532-dd49e7e9cf4d" providerId="AD" clId="Web-{0130B3CF-C872-458A-6D82-FB5B649CA2D1}" dt="2025-11-07T13:24:07.473" v="2" actId="20577"/>
      <pc:docMkLst>
        <pc:docMk/>
      </pc:docMkLst>
      <pc:sldChg chg="modSp">
        <pc:chgData name="Maryjane Betrand" userId="S::mb13afy@herts.ac.uk::9d690930-63dc-4257-8532-dd49e7e9cf4d" providerId="AD" clId="Web-{0130B3CF-C872-458A-6D82-FB5B649CA2D1}" dt="2025-11-07T13:23:42.800" v="0" actId="20577"/>
        <pc:sldMkLst>
          <pc:docMk/>
          <pc:sldMk cId="4148532546" sldId="289"/>
        </pc:sldMkLst>
        <pc:spChg chg="mod">
          <ac:chgData name="Maryjane Betrand" userId="S::mb13afy@herts.ac.uk::9d690930-63dc-4257-8532-dd49e7e9cf4d" providerId="AD" clId="Web-{0130B3CF-C872-458A-6D82-FB5B649CA2D1}" dt="2025-11-07T13:23:42.800" v="0" actId="20577"/>
          <ac:spMkLst>
            <pc:docMk/>
            <pc:sldMk cId="4148532546" sldId="289"/>
            <ac:spMk id="4" creationId="{6E7F4D14-5620-EC41-A86C-6CC3CFD691B4}"/>
          </ac:spMkLst>
        </pc:spChg>
      </pc:sldChg>
      <pc:sldChg chg="modSp">
        <pc:chgData name="Maryjane Betrand" userId="S::mb13afy@herts.ac.uk::9d690930-63dc-4257-8532-dd49e7e9cf4d" providerId="AD" clId="Web-{0130B3CF-C872-458A-6D82-FB5B649CA2D1}" dt="2025-11-07T13:24:07.473" v="2" actId="20577"/>
        <pc:sldMkLst>
          <pc:docMk/>
          <pc:sldMk cId="1718004908" sldId="329"/>
        </pc:sldMkLst>
        <pc:spChg chg="mod">
          <ac:chgData name="Maryjane Betrand" userId="S::mb13afy@herts.ac.uk::9d690930-63dc-4257-8532-dd49e7e9cf4d" providerId="AD" clId="Web-{0130B3CF-C872-458A-6D82-FB5B649CA2D1}" dt="2025-11-07T13:24:07.473" v="2" actId="20577"/>
          <ac:spMkLst>
            <pc:docMk/>
            <pc:sldMk cId="1718004908" sldId="329"/>
            <ac:spMk id="3" creationId="{00EBC183-8AA5-EC44-9987-D65F5C1892A1}"/>
          </ac:spMkLst>
        </pc:spChg>
      </pc:sldChg>
    </pc:docChg>
  </pc:docChgLst>
  <pc:docChgLst>
    <pc:chgData name="Sarah Beecham" userId="3dff3769-a6f8-4999-99c7-104518196c07" providerId="ADAL" clId="{B053FDEB-A230-4C3D-AB28-1996D6638692}"/>
    <pc:docChg chg="custSel modSld">
      <pc:chgData name="Sarah Beecham" userId="3dff3769-a6f8-4999-99c7-104518196c07" providerId="ADAL" clId="{B053FDEB-A230-4C3D-AB28-1996D6638692}" dt="2025-11-17T15:38:57.719" v="259" actId="313"/>
      <pc:docMkLst>
        <pc:docMk/>
      </pc:docMkLst>
      <pc:sldChg chg="modSp mod">
        <pc:chgData name="Sarah Beecham" userId="3dff3769-a6f8-4999-99c7-104518196c07" providerId="ADAL" clId="{B053FDEB-A230-4C3D-AB28-1996D6638692}" dt="2025-11-17T15:37:08.359" v="196" actId="20577"/>
        <pc:sldMkLst>
          <pc:docMk/>
          <pc:sldMk cId="0" sldId="261"/>
        </pc:sldMkLst>
        <pc:spChg chg="mod">
          <ac:chgData name="Sarah Beecham" userId="3dff3769-a6f8-4999-99c7-104518196c07" providerId="ADAL" clId="{B053FDEB-A230-4C3D-AB28-1996D6638692}" dt="2025-11-17T15:37:08.359" v="196" actId="20577"/>
          <ac:spMkLst>
            <pc:docMk/>
            <pc:sldMk cId="0" sldId="261"/>
            <ac:spMk id="130" creationId="{00000000-0000-0000-0000-000000000000}"/>
          </ac:spMkLst>
        </pc:spChg>
      </pc:sldChg>
      <pc:sldChg chg="modSp mod">
        <pc:chgData name="Sarah Beecham" userId="3dff3769-a6f8-4999-99c7-104518196c07" providerId="ADAL" clId="{B053FDEB-A230-4C3D-AB28-1996D6638692}" dt="2025-11-17T15:38:57.719" v="259" actId="313"/>
        <pc:sldMkLst>
          <pc:docMk/>
          <pc:sldMk cId="0" sldId="262"/>
        </pc:sldMkLst>
        <pc:spChg chg="mod">
          <ac:chgData name="Sarah Beecham" userId="3dff3769-a6f8-4999-99c7-104518196c07" providerId="ADAL" clId="{B053FDEB-A230-4C3D-AB28-1996D6638692}" dt="2025-11-17T15:38:57.719" v="259" actId="313"/>
          <ac:spMkLst>
            <pc:docMk/>
            <pc:sldMk cId="0" sldId="262"/>
            <ac:spMk id="2" creationId="{58BC67A1-346D-734F-321E-2098D1481674}"/>
          </ac:spMkLst>
        </pc:spChg>
      </pc:sldChg>
      <pc:sldChg chg="modSp mod">
        <pc:chgData name="Sarah Beecham" userId="3dff3769-a6f8-4999-99c7-104518196c07" providerId="ADAL" clId="{B053FDEB-A230-4C3D-AB28-1996D6638692}" dt="2025-11-17T15:33:16.677" v="28" actId="20577"/>
        <pc:sldMkLst>
          <pc:docMk/>
          <pc:sldMk cId="32494612" sldId="336"/>
        </pc:sldMkLst>
        <pc:spChg chg="mod">
          <ac:chgData name="Sarah Beecham" userId="3dff3769-a6f8-4999-99c7-104518196c07" providerId="ADAL" clId="{B053FDEB-A230-4C3D-AB28-1996D6638692}" dt="2025-11-17T15:33:16.677" v="28" actId="20577"/>
          <ac:spMkLst>
            <pc:docMk/>
            <pc:sldMk cId="32494612" sldId="336"/>
            <ac:spMk id="7" creationId="{F7FEA660-7B39-BC91-3B96-7298CCF66DE1}"/>
          </ac:spMkLst>
        </pc:spChg>
      </pc:sldChg>
      <pc:sldChg chg="modSp mod">
        <pc:chgData name="Sarah Beecham" userId="3dff3769-a6f8-4999-99c7-104518196c07" providerId="ADAL" clId="{B053FDEB-A230-4C3D-AB28-1996D6638692}" dt="2025-11-17T15:35:36.933" v="159" actId="1076"/>
        <pc:sldMkLst>
          <pc:docMk/>
          <pc:sldMk cId="3608140810" sldId="339"/>
        </pc:sldMkLst>
        <pc:spChg chg="mod">
          <ac:chgData name="Sarah Beecham" userId="3dff3769-a6f8-4999-99c7-104518196c07" providerId="ADAL" clId="{B053FDEB-A230-4C3D-AB28-1996D6638692}" dt="2025-11-17T15:34:29.583" v="132" actId="20577"/>
          <ac:spMkLst>
            <pc:docMk/>
            <pc:sldMk cId="3608140810" sldId="339"/>
            <ac:spMk id="7" creationId="{F7FEA660-7B39-BC91-3B96-7298CCF66DE1}"/>
          </ac:spMkLst>
        </pc:spChg>
        <pc:spChg chg="mod">
          <ac:chgData name="Sarah Beecham" userId="3dff3769-a6f8-4999-99c7-104518196c07" providerId="ADAL" clId="{B053FDEB-A230-4C3D-AB28-1996D6638692}" dt="2025-11-17T15:35:36.933" v="159" actId="1076"/>
          <ac:spMkLst>
            <pc:docMk/>
            <pc:sldMk cId="3608140810" sldId="339"/>
            <ac:spMk id="8" creationId="{08296624-D625-8A51-63F8-EC461F283B3B}"/>
          </ac:spMkLst>
        </pc:spChg>
        <pc:spChg chg="mod">
          <ac:chgData name="Sarah Beecham" userId="3dff3769-a6f8-4999-99c7-104518196c07" providerId="ADAL" clId="{B053FDEB-A230-4C3D-AB28-1996D6638692}" dt="2025-11-17T15:35:29.123" v="158" actId="1076"/>
          <ac:spMkLst>
            <pc:docMk/>
            <pc:sldMk cId="3608140810" sldId="339"/>
            <ac:spMk id="12" creationId="{F41CBD45-A845-C335-489D-8BB5DDD408DD}"/>
          </ac:spMkLst>
        </pc:spChg>
      </pc:sldChg>
      <pc:sldChg chg="modSp mod">
        <pc:chgData name="Sarah Beecham" userId="3dff3769-a6f8-4999-99c7-104518196c07" providerId="ADAL" clId="{B053FDEB-A230-4C3D-AB28-1996D6638692}" dt="2025-11-17T15:32:31.739" v="8" actId="20577"/>
        <pc:sldMkLst>
          <pc:docMk/>
          <pc:sldMk cId="2723358785" sldId="340"/>
        </pc:sldMkLst>
        <pc:spChg chg="mod">
          <ac:chgData name="Sarah Beecham" userId="3dff3769-a6f8-4999-99c7-104518196c07" providerId="ADAL" clId="{B053FDEB-A230-4C3D-AB28-1996D6638692}" dt="2025-11-17T15:32:31.739" v="8" actId="20577"/>
          <ac:spMkLst>
            <pc:docMk/>
            <pc:sldMk cId="2723358785" sldId="340"/>
            <ac:spMk id="7" creationId="{F7FEA660-7B39-BC91-3B96-7298CCF66DE1}"/>
          </ac:spMkLst>
        </pc:spChg>
      </pc:sldChg>
      <pc:sldChg chg="modSp mod">
        <pc:chgData name="Sarah Beecham" userId="3dff3769-a6f8-4999-99c7-104518196c07" providerId="ADAL" clId="{B053FDEB-A230-4C3D-AB28-1996D6638692}" dt="2025-11-17T15:31:40.436" v="1" actId="20577"/>
        <pc:sldMkLst>
          <pc:docMk/>
          <pc:sldMk cId="2339144795" sldId="341"/>
        </pc:sldMkLst>
        <pc:spChg chg="mod">
          <ac:chgData name="Sarah Beecham" userId="3dff3769-a6f8-4999-99c7-104518196c07" providerId="ADAL" clId="{B053FDEB-A230-4C3D-AB28-1996D6638692}" dt="2025-11-17T15:31:40.436" v="1" actId="20577"/>
          <ac:spMkLst>
            <pc:docMk/>
            <pc:sldMk cId="2339144795" sldId="341"/>
            <ac:spMk id="5" creationId="{A5F0AC96-5BAE-FDAC-4EAC-17779A2B06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11/12/2025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70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25D4-F833-089C-AC1A-8201660B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23E7A-AB3C-F38D-B114-ED0AAADD2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82C3E-9AAF-00B0-6311-607E16C6C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B2CCA-329D-7293-8102-425D69F2F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096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37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66473-D61A-8C09-764F-0BE55E6CDCFA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63500" y="63500"/>
            <a:ext cx="1468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Private</a:t>
            </a:r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  <p:sldLayoutId id="2147483724" r:id="rId14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and Analysis – </a:t>
            </a:r>
            <a:br>
              <a:rPr lang="en-US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r>
              <a:rPr lang="en-US" sz="2200" dirty="0"/>
              <a:t>Date: </a:t>
            </a:r>
            <a:r>
              <a:rPr lang="en-US" sz="2200" dirty="0" smtClean="0"/>
              <a:t>01/12/2025</a:t>
            </a:r>
            <a:r>
              <a:rPr lang="en-US" sz="8000" dirty="0"/>
              <a:t/>
            </a:r>
            <a:br>
              <a:rPr lang="en-US" sz="80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Group Id:      </a:t>
            </a:r>
            <a:r>
              <a:rPr lang="en-US" sz="2000" dirty="0" smtClean="0"/>
              <a:t> A154                                   Name </a:t>
            </a:r>
            <a:r>
              <a:rPr lang="en-US" sz="2000" dirty="0"/>
              <a:t>of Student </a:t>
            </a:r>
            <a:r>
              <a:rPr lang="en-US" sz="2000" smtClean="0"/>
              <a:t>Presenting</a:t>
            </a:r>
            <a:r>
              <a:rPr lang="en-US" sz="2000" smtClean="0"/>
              <a:t>:  </a:t>
            </a:r>
            <a:r>
              <a:rPr lang="en-GB" sz="2000" smtClean="0"/>
              <a:t>Pranavi</a:t>
            </a:r>
            <a:r>
              <a:rPr lang="en-GB" sz="2000" dirty="0" smtClean="0"/>
              <a:t> </a:t>
            </a:r>
            <a:r>
              <a:rPr lang="en-GB" sz="2000" dirty="0" err="1"/>
              <a:t>kondamadugula</a:t>
            </a:r>
            <a:r>
              <a:rPr lang="en-GB" sz="2000" dirty="0"/>
              <a:t> 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274320"/>
            <a:ext cx="10455567" cy="1685109"/>
          </a:xfrm>
        </p:spPr>
        <p:txBody>
          <a:bodyPr/>
          <a:lstStyle/>
          <a:p>
            <a:r>
              <a:rPr lang="en-GB" dirty="0"/>
              <a:t>7COM1079-2025  Student Group No</a:t>
            </a:r>
            <a:r>
              <a:rPr lang="en-GB" dirty="0" smtClean="0"/>
              <a:t>: A154                    </a:t>
            </a:r>
            <a:r>
              <a:rPr lang="en-GB" dirty="0"/>
              <a:t>Names of Student </a:t>
            </a:r>
            <a:r>
              <a:rPr lang="en-GB" dirty="0" smtClean="0"/>
              <a:t>Attendees:		</a:t>
            </a:r>
          </a:p>
          <a:p>
            <a:r>
              <a:rPr lang="en-GB" dirty="0" smtClean="0"/>
              <a:t>				                   1.Pranavi </a:t>
            </a:r>
            <a:r>
              <a:rPr lang="en-GB" dirty="0" err="1"/>
              <a:t>kondamadugula</a:t>
            </a:r>
            <a:r>
              <a:rPr lang="en-GB" dirty="0"/>
              <a:t>     </a:t>
            </a:r>
            <a:r>
              <a:rPr lang="en-GB" dirty="0" smtClean="0"/>
              <a:t> 24082682</a:t>
            </a:r>
            <a:endParaRPr lang="en-GB" dirty="0"/>
          </a:p>
          <a:p>
            <a:r>
              <a:rPr lang="en-GB" dirty="0"/>
              <a:t>				          	</a:t>
            </a:r>
            <a:r>
              <a:rPr lang="en-GB" dirty="0" smtClean="0"/>
              <a:t>  2.Anuhya </a:t>
            </a:r>
            <a:r>
              <a:rPr lang="en-GB" dirty="0" err="1"/>
              <a:t>Vankaraboina</a:t>
            </a:r>
            <a:r>
              <a:rPr lang="en-GB" dirty="0"/>
              <a:t>        </a:t>
            </a:r>
            <a:r>
              <a:rPr lang="en-GB" dirty="0" smtClean="0"/>
              <a:t> 24143924</a:t>
            </a:r>
            <a:endParaRPr lang="en-GB" dirty="0"/>
          </a:p>
          <a:p>
            <a:r>
              <a:rPr lang="en-GB" dirty="0"/>
              <a:t>			                         	</a:t>
            </a:r>
            <a:r>
              <a:rPr lang="en-GB" dirty="0" smtClean="0"/>
              <a:t>  3.Sri </a:t>
            </a:r>
            <a:r>
              <a:rPr lang="en-GB" dirty="0" err="1"/>
              <a:t>Varsha</a:t>
            </a:r>
            <a:r>
              <a:rPr lang="en-GB" dirty="0"/>
              <a:t> </a:t>
            </a:r>
            <a:r>
              <a:rPr lang="en-GB" dirty="0" err="1"/>
              <a:t>Goud</a:t>
            </a:r>
            <a:r>
              <a:rPr lang="en-GB" dirty="0"/>
              <a:t> </a:t>
            </a:r>
            <a:r>
              <a:rPr lang="en-GB" dirty="0" err="1"/>
              <a:t>Shabad</a:t>
            </a:r>
            <a:r>
              <a:rPr lang="en-GB" dirty="0"/>
              <a:t>   </a:t>
            </a:r>
            <a:r>
              <a:rPr lang="en-GB" dirty="0" smtClean="0"/>
              <a:t> 24083241</a:t>
            </a:r>
            <a:endParaRPr lang="en-GB" dirty="0"/>
          </a:p>
          <a:p>
            <a:r>
              <a:rPr lang="en-GB" dirty="0"/>
              <a:t>				          	</a:t>
            </a:r>
            <a:r>
              <a:rPr lang="en-GB" dirty="0" smtClean="0"/>
              <a:t>  4.Indrasenareddy </a:t>
            </a:r>
            <a:r>
              <a:rPr lang="en-GB" dirty="0" err="1"/>
              <a:t>kallem</a:t>
            </a:r>
            <a:r>
              <a:rPr lang="en-GB" dirty="0"/>
              <a:t>     </a:t>
            </a:r>
            <a:r>
              <a:rPr lang="en-GB" dirty="0" smtClean="0"/>
              <a:t>  </a:t>
            </a:r>
            <a:r>
              <a:rPr lang="en-GB" dirty="0"/>
              <a:t>24077224</a:t>
            </a:r>
          </a:p>
          <a:p>
            <a:r>
              <a:rPr lang="en-GB" dirty="0"/>
              <a:t>                                                                                	</a:t>
            </a:r>
            <a:r>
              <a:rPr lang="en-GB" dirty="0" smtClean="0"/>
              <a:t>  5.Sai </a:t>
            </a:r>
            <a:r>
              <a:rPr lang="en-GB" dirty="0" err="1"/>
              <a:t>Rohith</a:t>
            </a:r>
            <a:r>
              <a:rPr lang="en-GB" dirty="0"/>
              <a:t> </a:t>
            </a:r>
            <a:r>
              <a:rPr lang="en-GB" dirty="0" err="1"/>
              <a:t>kadambari</a:t>
            </a:r>
            <a:r>
              <a:rPr lang="en-GB" dirty="0"/>
              <a:t>      </a:t>
            </a:r>
            <a:r>
              <a:rPr lang="en-GB" dirty="0" smtClean="0"/>
              <a:t>   </a:t>
            </a:r>
            <a:r>
              <a:rPr lang="en-GB" dirty="0"/>
              <a:t>23098909 </a:t>
            </a:r>
          </a:p>
          <a:p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4311-58F1-BD4D-8FED-50D72C3D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1262B9-84B0-C1A5-543C-8FA0F245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200" y="1355611"/>
            <a:ext cx="7200000" cy="360000"/>
          </a:xfrm>
        </p:spPr>
        <p:txBody>
          <a:bodyPr/>
          <a:lstStyle/>
          <a:p>
            <a:r>
              <a:rPr lang="en-US"/>
              <a:t>Part 1: VISUALISATION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750A5-C5AD-CEC8-7CD5-C4412264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 (ADD VIA INSERT, HEADER &amp; FOOTER)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B5058-8385-6382-3B48-5ADE78E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F0AC96-5BAE-FDAC-4EAC-17779A2B0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201" y="1715611"/>
            <a:ext cx="10683742" cy="2359086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endParaRPr lang="en-GB" sz="3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14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080637"/>
            <a:ext cx="10110240" cy="588024"/>
          </a:xfrm>
        </p:spPr>
        <p:txBody>
          <a:bodyPr/>
          <a:lstStyle/>
          <a:p>
            <a:r>
              <a:rPr lang="en-US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are using the dataset DS289 (flight_data_DEL_HYD.csv) to answer our Research Question  “</a:t>
            </a:r>
            <a:r>
              <a:rPr lang="en-IE" sz="2400" b="0" dirty="0">
                <a:solidFill>
                  <a:schemeClr val="tx1"/>
                </a:solidFill>
                <a:latin typeface="Calibri"/>
                <a:ea typeface="Calibri" panose="020F0502020204030204" pitchFamily="34" charset="0"/>
                <a:cs typeface="Times New Roman"/>
              </a:rPr>
              <a:t>Is there a difference in the mean of  prices between  flights arriving in Hyderabad and Delhi?</a:t>
            </a:r>
            <a:r>
              <a:rPr lang="en-US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  <a:endParaRPr lang="en-US" sz="240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791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                   Names of Student Group Attendees: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DD890-F323-BC39-8E76-43B2265D0104}"/>
              </a:ext>
            </a:extLst>
          </p:cNvPr>
          <p:cNvSpPr txBox="1"/>
          <p:nvPr/>
        </p:nvSpPr>
        <p:spPr>
          <a:xfrm>
            <a:off x="795130" y="2199860"/>
            <a:ext cx="41015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>
                <a:latin typeface="Calibri"/>
                <a:cs typeface="Calibri"/>
              </a:rPr>
              <a:t>“the dataset has 59rows and the variables we use are Price(dependent variable3) and </a:t>
            </a:r>
            <a:r>
              <a:rPr lang="en-GB" sz="2400" dirty="0" err="1">
                <a:latin typeface="Calibri"/>
                <a:cs typeface="Calibri"/>
              </a:rPr>
              <a:t>ArrivingCity</a:t>
            </a:r>
            <a:r>
              <a:rPr lang="en-GB" sz="2400" dirty="0">
                <a:latin typeface="Calibri"/>
                <a:cs typeface="Calibri"/>
              </a:rPr>
              <a:t> (independent variable4).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174ADF1-9076-4B41-8EBE-E2A8E1BB8369}"/>
              </a:ext>
            </a:extLst>
          </p:cNvPr>
          <p:cNvCxnSpPr>
            <a:cxnSpLocks/>
          </p:cNvCxnSpPr>
          <p:nvPr/>
        </p:nvCxnSpPr>
        <p:spPr>
          <a:xfrm>
            <a:off x="4638261" y="3624470"/>
            <a:ext cx="404191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F4FE2C-BA31-4014-64AF-D34C3AF65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339" y="2352964"/>
            <a:ext cx="6765236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 7COM1079-2022  Student Group No:  ?????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8296624-D625-8A51-63F8-EC461F283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353630"/>
            <a:ext cx="10273911" cy="668224"/>
          </a:xfrm>
          <a:solidFill>
            <a:schemeClr val="bg2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Comparison of means/medians</a:t>
            </a:r>
            <a:r>
              <a:rPr lang="en-GB" b="0" dirty="0"/>
              <a:t>: Boxplot</a:t>
            </a:r>
            <a:endParaRPr lang="en-GB" b="0" i="1" dirty="0"/>
          </a:p>
        </p:txBody>
      </p:sp>
      <p:pic>
        <p:nvPicPr>
          <p:cNvPr id="5" name="Picture 4" descr="A graph with a number of lines and numbers&#10;&#10;AI-generated content may be incorrect.">
            <a:extLst>
              <a:ext uri="{FF2B5EF4-FFF2-40B4-BE49-F238E27FC236}">
                <a16:creationId xmlns:a16="http://schemas.microsoft.com/office/drawing/2014/main" id="{F5259875-735D-27EE-2E46-AE6C4B59C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948" y="1107932"/>
            <a:ext cx="4941013" cy="495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5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7EC0-D579-4B10-FABC-E724A74F3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F935C-2079-09E7-6EB9-7B425402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 7COM1079-2022  Student Group No:  ?????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CC49E-2CDC-64A5-5E10-C8496AEB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3547270-ED84-2AF3-6C36-26638C5BB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353630"/>
            <a:ext cx="10273911" cy="668224"/>
          </a:xfrm>
          <a:solidFill>
            <a:schemeClr val="bg2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Comparison of means/</a:t>
            </a:r>
            <a:r>
              <a:rPr lang="en-GB" dirty="0" err="1"/>
              <a:t>medians</a:t>
            </a:r>
            <a:r>
              <a:rPr lang="en-GB" b="0" dirty="0" err="1"/>
              <a:t>:Histogram</a:t>
            </a:r>
            <a:endParaRPr lang="en-GB" b="0" i="1" dirty="0"/>
          </a:p>
        </p:txBody>
      </p:sp>
      <p:pic>
        <p:nvPicPr>
          <p:cNvPr id="5" name="Picture 4" descr="A graph of flight tickets&#10;&#10;AI-generated content may be incorrect.">
            <a:extLst>
              <a:ext uri="{FF2B5EF4-FFF2-40B4-BE49-F238E27FC236}">
                <a16:creationId xmlns:a16="http://schemas.microsoft.com/office/drawing/2014/main" id="{AA385378-25C6-EB44-1AC4-F9D6433A7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921" y="991302"/>
            <a:ext cx="4863548" cy="487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28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BCDAA3-A3AD-A880-5E9C-0E1ABBC0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698171"/>
            <a:ext cx="10285200" cy="551829"/>
          </a:xfrm>
        </p:spPr>
        <p:txBody>
          <a:bodyPr/>
          <a:lstStyle/>
          <a:p>
            <a:r>
              <a:rPr lang="en-US"/>
              <a:t>Part 2: Analysis (building on your Visualizations)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7CE03-B588-8643-02BA-1E1B7256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BD585-11D8-30FD-4A30-9F1639F0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1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r>
              <a:t/>
            </a:r>
            <a:br/>
            <a:r>
              <a:t/>
            </a:r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/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7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/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to include the normal curve overlay (shown in blue)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/>
          <p:cNvSpPr/>
          <p:nvPr/>
        </p:nvSpPr>
        <p:spPr>
          <a:xfrm>
            <a:off x="290880" y="1645921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000000"/>
                </a:solidFill>
                <a:latin typeface="Arial"/>
              </a:rPr>
              <a:t>For example: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3" name="CustomShape 10"/>
          <p:cNvSpPr/>
          <p:nvPr/>
        </p:nvSpPr>
        <p:spPr>
          <a:xfrm>
            <a:off x="6403680" y="1917361"/>
            <a:ext cx="447576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normal curve overlay </a:t>
            </a:r>
            <a:r>
              <a:rPr lang="en-GB" sz="1800" b="1" i="1" strike="noStrike" spc="-1" dirty="0">
                <a:solidFill>
                  <a:srgbClr val="203232"/>
                </a:solidFill>
                <a:latin typeface="Arial"/>
              </a:rPr>
              <a:t>does not follow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the shape of the underlying data, so we use the non-parametric test that does not assume normality: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Wilcoxon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 also known as the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Mann Whitney U Test.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114" name="Picture 20" descr="Chart, histogram&#10;&#10;Description automatically generated"/>
          <p:cNvPicPr/>
          <p:nvPr/>
        </p:nvPicPr>
        <p:blipFill>
          <a:blip r:embed="rId2"/>
          <a:stretch/>
        </p:blipFill>
        <p:spPr>
          <a:xfrm>
            <a:off x="1312560" y="1731961"/>
            <a:ext cx="4800240" cy="4800240"/>
          </a:xfrm>
          <a:prstGeom prst="rect">
            <a:avLst/>
          </a:prstGeom>
          <a:ln>
            <a:noFill/>
          </a:ln>
        </p:spPr>
      </p:pic>
      <p:pic>
        <p:nvPicPr>
          <p:cNvPr id="3" name="Picture 2" descr="A graph of flight tickets&#10;&#10;AI-generated content may be incorrect.">
            <a:extLst>
              <a:ext uri="{FF2B5EF4-FFF2-40B4-BE49-F238E27FC236}">
                <a16:creationId xmlns:a16="http://schemas.microsoft.com/office/drawing/2014/main" id="{1B7CE6F5-9870-2C9B-7CB1-704B025AA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80" y="1731961"/>
            <a:ext cx="5211515" cy="4705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8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860959" y="2478157"/>
            <a:ext cx="10973747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3600" b="0" strike="noStrike" spc="-202" dirty="0">
              <a:solidFill>
                <a:srgbClr val="203232"/>
              </a:solidFill>
              <a:latin typeface="Arial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GB" dirty="0"/>
              <a:t>W = 53, p-value = 2.55e-09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Yes, the p-value is &lt; 0.05.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Yes, the result is significant.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reject the null hypothesis’.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is a real, statistically significant difference in ticket prices between flights arriving in Hyderabad and Delhi.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59B412-C5AF-4A5E-570E-DD6B96128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19" y="1700850"/>
            <a:ext cx="6401355" cy="7773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Props1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</Words>
  <Application>Microsoft Office PowerPoint</Application>
  <PresentationFormat>Widescreen</PresentationFormat>
  <Paragraphs>59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Herts Theme</vt:lpstr>
      <vt:lpstr>Visualization and Analysis –  Tutorial Presentation for Feedback Date: 01/12/2025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HP</cp:lastModifiedBy>
  <cp:revision>8</cp:revision>
  <dcterms:created xsi:type="dcterms:W3CDTF">2019-10-01T08:37:56Z</dcterms:created>
  <dcterms:modified xsi:type="dcterms:W3CDTF">2025-12-10T23:08:43Z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  <property fmtid="{D5CDD505-2E9C-101B-9397-08002B2CF9AE}" pid="3" name="MSIP_Label_792eb941-5708-451f-9eb2-3e44fd73f8f3_Enabled">
    <vt:lpwstr>true</vt:lpwstr>
  </property>
  <property fmtid="{D5CDD505-2E9C-101B-9397-08002B2CF9AE}" pid="4" name="MSIP_Label_792eb941-5708-451f-9eb2-3e44fd73f8f3_SetDate">
    <vt:lpwstr>2025-11-26T22:13:18Z</vt:lpwstr>
  </property>
  <property fmtid="{D5CDD505-2E9C-101B-9397-08002B2CF9AE}" pid="5" name="MSIP_Label_792eb941-5708-451f-9eb2-3e44fd73f8f3_Method">
    <vt:lpwstr>Standard</vt:lpwstr>
  </property>
  <property fmtid="{D5CDD505-2E9C-101B-9397-08002B2CF9AE}" pid="6" name="MSIP_Label_792eb941-5708-451f-9eb2-3e44fd73f8f3_Name">
    <vt:lpwstr>Private</vt:lpwstr>
  </property>
  <property fmtid="{D5CDD505-2E9C-101B-9397-08002B2CF9AE}" pid="7" name="MSIP_Label_792eb941-5708-451f-9eb2-3e44fd73f8f3_SiteId">
    <vt:lpwstr>b8d5850c-e89a-4a4a-95da-60b09545d189</vt:lpwstr>
  </property>
  <property fmtid="{D5CDD505-2E9C-101B-9397-08002B2CF9AE}" pid="8" name="MSIP_Label_792eb941-5708-451f-9eb2-3e44fd73f8f3_ActionId">
    <vt:lpwstr>542bbaba-0852-4f67-93cc-224435168ab1</vt:lpwstr>
  </property>
  <property fmtid="{D5CDD505-2E9C-101B-9397-08002B2CF9AE}" pid="9" name="MSIP_Label_792eb941-5708-451f-9eb2-3e44fd73f8f3_ContentBits">
    <vt:lpwstr>1</vt:lpwstr>
  </property>
  <property fmtid="{D5CDD505-2E9C-101B-9397-08002B2CF9AE}" pid="10" name="MSIP_Label_792eb941-5708-451f-9eb2-3e44fd73f8f3_Tag">
    <vt:lpwstr>10, 3, 0, 1</vt:lpwstr>
  </property>
  <property fmtid="{D5CDD505-2E9C-101B-9397-08002B2CF9AE}" pid="11" name="ClassificationContentMarkingHeaderLocations">
    <vt:lpwstr>Herts Theme:7</vt:lpwstr>
  </property>
  <property fmtid="{D5CDD505-2E9C-101B-9397-08002B2CF9AE}" pid="12" name="ClassificationContentMarkingHeaderText">
    <vt:lpwstr>Classification: Private</vt:lpwstr>
  </property>
</Properties>
</file>