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10/12/2025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r>
              <a:rPr lang="en-US" sz="2200" dirty="0" smtClean="0"/>
              <a:t>01/12/2025</a:t>
            </a:r>
            <a:r>
              <a:rPr lang="en-US" sz="8000" dirty="0"/>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a:t>
            </a:r>
            <a:r>
              <a:rPr lang="en-US" sz="2000" dirty="0" smtClean="0"/>
              <a:t>Name:    A154                               </a:t>
            </a:r>
            <a:r>
              <a:rPr lang="en-US" sz="2000" dirty="0"/>
              <a:t>Name of Student </a:t>
            </a:r>
            <a:r>
              <a:rPr lang="en-US" sz="2000" dirty="0" smtClean="0"/>
              <a:t>Presenting:</a:t>
            </a:r>
            <a:r>
              <a:rPr lang="en-GB" sz="1800" dirty="0" err="1"/>
              <a:t>Pranavi</a:t>
            </a:r>
            <a:r>
              <a:rPr lang="en-GB" sz="1800" dirty="0"/>
              <a:t> </a:t>
            </a:r>
            <a:r>
              <a:rPr lang="en-GB" sz="1800" dirty="0" err="1"/>
              <a:t>kondamadugula</a:t>
            </a:r>
            <a:r>
              <a:rPr lang="en-GB" sz="1800" dirty="0"/>
              <a:t> </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46328"/>
            <a:ext cx="10455567" cy="1643672"/>
          </a:xfrm>
        </p:spPr>
        <p:txBody>
          <a:bodyPr/>
          <a:lstStyle/>
          <a:p>
            <a:r>
              <a:rPr lang="en-GB" dirty="0" smtClean="0"/>
              <a:t>7COM1079-2025</a:t>
            </a:r>
            <a:r>
              <a:rPr lang="en-GB" dirty="0"/>
              <a:t>  Student Group No:  </a:t>
            </a:r>
            <a:r>
              <a:rPr lang="en-GB" dirty="0" smtClean="0"/>
              <a:t>A154                 Names </a:t>
            </a:r>
            <a:r>
              <a:rPr lang="en-GB" dirty="0"/>
              <a:t>of Student Attendees </a:t>
            </a:r>
            <a:endParaRPr lang="en-GB" dirty="0" smtClean="0"/>
          </a:p>
          <a:p>
            <a:r>
              <a:rPr lang="en-GB" dirty="0" smtClean="0"/>
              <a:t>				          	1.Pranavi </a:t>
            </a:r>
            <a:r>
              <a:rPr lang="en-GB" dirty="0" err="1" smtClean="0"/>
              <a:t>kondamadugula</a:t>
            </a:r>
            <a:r>
              <a:rPr lang="en-GB" dirty="0" smtClean="0"/>
              <a:t>     24082682</a:t>
            </a:r>
          </a:p>
          <a:p>
            <a:r>
              <a:rPr lang="en-GB" dirty="0" smtClean="0"/>
              <a:t>				          	2.Anuhya </a:t>
            </a:r>
            <a:r>
              <a:rPr lang="en-GB" dirty="0" err="1" smtClean="0"/>
              <a:t>Vankaraboina</a:t>
            </a:r>
            <a:r>
              <a:rPr lang="en-GB" dirty="0" smtClean="0"/>
              <a:t>         24143924</a:t>
            </a:r>
          </a:p>
          <a:p>
            <a:r>
              <a:rPr lang="en-GB" dirty="0" smtClean="0"/>
              <a:t>			                         	3.Sri </a:t>
            </a:r>
            <a:r>
              <a:rPr lang="en-GB" dirty="0" err="1"/>
              <a:t>Varsha</a:t>
            </a:r>
            <a:r>
              <a:rPr lang="en-GB" dirty="0"/>
              <a:t> </a:t>
            </a:r>
            <a:r>
              <a:rPr lang="en-GB" dirty="0" err="1"/>
              <a:t>Goud</a:t>
            </a:r>
            <a:r>
              <a:rPr lang="en-GB" dirty="0"/>
              <a:t> </a:t>
            </a:r>
            <a:r>
              <a:rPr lang="en-GB" dirty="0" err="1" smtClean="0"/>
              <a:t>Shabad</a:t>
            </a:r>
            <a:r>
              <a:rPr lang="en-GB" dirty="0" smtClean="0"/>
              <a:t>     24083241</a:t>
            </a:r>
          </a:p>
          <a:p>
            <a:r>
              <a:rPr lang="en-GB" dirty="0" smtClean="0"/>
              <a:t>				          	4.Indrasenareddy </a:t>
            </a:r>
            <a:r>
              <a:rPr lang="en-GB" dirty="0" err="1" smtClean="0"/>
              <a:t>kallem</a:t>
            </a:r>
            <a:r>
              <a:rPr lang="en-GB" dirty="0" smtClean="0"/>
              <a:t>        24077224</a:t>
            </a:r>
          </a:p>
          <a:p>
            <a:r>
              <a:rPr lang="en-GB" dirty="0" smtClean="0"/>
              <a:t>                                                                                	5.Sai </a:t>
            </a:r>
            <a:r>
              <a:rPr lang="en-GB" dirty="0" err="1"/>
              <a:t>Rohith</a:t>
            </a:r>
            <a:r>
              <a:rPr lang="en-GB" dirty="0"/>
              <a:t> </a:t>
            </a:r>
            <a:r>
              <a:rPr lang="en-GB" dirty="0" err="1" smtClean="0"/>
              <a:t>kadambari</a:t>
            </a:r>
            <a:r>
              <a:rPr lang="en-GB" dirty="0"/>
              <a:t> </a:t>
            </a:r>
            <a:r>
              <a:rPr lang="en-GB" dirty="0" smtClean="0"/>
              <a:t>         23098909 </a:t>
            </a:r>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154A</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3" y="2089858"/>
            <a:ext cx="10127187" cy="2833325"/>
          </a:xfrm>
        </p:spPr>
        <p:txBody>
          <a:bodyPr>
            <a:normAutofit/>
          </a:bodyPr>
          <a:lstStyle/>
          <a:p>
            <a:pPr latinLnBrk="1">
              <a:lnSpc>
                <a:spcPct val="100000"/>
              </a:lnSpc>
            </a:pPr>
            <a:r>
              <a:rPr lang="en-GB" sz="2000" b="0" spc="-100" dirty="0">
                <a:solidFill>
                  <a:srgbClr val="203232"/>
                </a:solidFill>
                <a:latin typeface="+mn-lt"/>
                <a:ea typeface="+mn-ea"/>
                <a:cs typeface="Arial"/>
              </a:rPr>
              <a:t>Flight </a:t>
            </a:r>
            <a:r>
              <a:rPr lang="en-GB" sz="2000" b="0" spc="-100" dirty="0" err="1">
                <a:solidFill>
                  <a:srgbClr val="203232"/>
                </a:solidFill>
                <a:latin typeface="+mn-lt"/>
                <a:ea typeface="+mn-ea"/>
                <a:cs typeface="Arial"/>
              </a:rPr>
              <a:t>ArrivingCity</a:t>
            </a:r>
            <a:r>
              <a:rPr lang="en-GB" sz="2000" b="0" spc="-100" dirty="0">
                <a:solidFill>
                  <a:srgbClr val="203232"/>
                </a:solidFill>
                <a:latin typeface="+mn-lt"/>
                <a:ea typeface="+mn-ea"/>
                <a:cs typeface="Arial"/>
              </a:rPr>
              <a:t> and Price are the </a:t>
            </a:r>
            <a:r>
              <a:rPr lang="en-GB" sz="2000" b="0" spc="-100" dirty="0" err="1">
                <a:solidFill>
                  <a:srgbClr val="203232"/>
                </a:solidFill>
                <a:latin typeface="+mn-lt"/>
                <a:ea typeface="+mn-ea"/>
                <a:cs typeface="Arial"/>
              </a:rPr>
              <a:t>colums</a:t>
            </a:r>
            <a:r>
              <a:rPr lang="en-GB" sz="2000" b="0" spc="-100" dirty="0">
                <a:solidFill>
                  <a:srgbClr val="203232"/>
                </a:solidFill>
                <a:latin typeface="+mn-lt"/>
                <a:ea typeface="+mn-ea"/>
                <a:cs typeface="Arial"/>
              </a:rPr>
              <a:t> we want to use for out research question.</a:t>
            </a:r>
            <a:br>
              <a:rPr lang="en-GB" sz="2000" b="0" spc="-100" dirty="0">
                <a:solidFill>
                  <a:srgbClr val="203232"/>
                </a:solidFill>
                <a:latin typeface="+mn-lt"/>
                <a:ea typeface="+mn-ea"/>
                <a:cs typeface="Arial"/>
              </a:rPr>
            </a:br>
            <a:r>
              <a:rPr lang="en-GB" sz="2000" b="0" spc="-100" dirty="0">
                <a:solidFill>
                  <a:srgbClr val="203232"/>
                </a:solidFill>
                <a:latin typeface="+mn-lt"/>
                <a:ea typeface="+mn-ea"/>
                <a:cs typeface="Arial"/>
              </a:rPr>
              <a:t>The dataset contains 59 rows.</a:t>
            </a:r>
            <a:br>
              <a:rPr lang="en-GB" sz="2000" b="0" spc="-100" dirty="0">
                <a:solidFill>
                  <a:srgbClr val="203232"/>
                </a:solidFill>
                <a:latin typeface="+mn-lt"/>
                <a:ea typeface="+mn-ea"/>
                <a:cs typeface="Arial"/>
              </a:rPr>
            </a:br>
            <a:r>
              <a:rPr lang="en-GB" sz="2000" b="0" spc="-100" dirty="0">
                <a:solidFill>
                  <a:srgbClr val="203232"/>
                </a:solidFill>
                <a:latin typeface="+mn-lt"/>
                <a:ea typeface="+mn-ea"/>
                <a:cs typeface="Arial"/>
              </a:rPr>
              <a:t>Here are the head (first 5 rows)of the dataset:</a:t>
            </a:r>
            <a:br>
              <a:rPr lang="en-GB" sz="2000" b="0" spc="-100" dirty="0">
                <a:solidFill>
                  <a:srgbClr val="203232"/>
                </a:solidFill>
                <a:latin typeface="+mn-lt"/>
                <a:ea typeface="+mn-ea"/>
                <a:cs typeface="Arial"/>
              </a:rPr>
            </a:br>
            <a:endParaRPr lang="en-US" sz="1800" b="0" dirty="0">
              <a:solidFill>
                <a:srgbClr val="FF0000"/>
              </a:solidFill>
              <a:cs typeface="Arial"/>
            </a:endParaRPr>
          </a:p>
          <a:p>
            <a:pPr>
              <a:lnSpc>
                <a:spcPts val="2880"/>
              </a:lnSpc>
              <a:spcBef>
                <a:spcPts val="0"/>
              </a:spcBef>
              <a:spcAft>
                <a:spcPts val="992"/>
              </a:spcAft>
            </a:pPr>
            <a:endParaRPr lang="en-US" sz="3600" b="0" dirty="0">
              <a:solidFill>
                <a:srgbClr val="FF0000"/>
              </a:solidFill>
              <a:cs typeface="Arial"/>
            </a:endParaRPr>
          </a:p>
        </p:txBody>
      </p:sp>
      <p:pic>
        <p:nvPicPr>
          <p:cNvPr id="9" name="Picture 8" descr="A screen shot of a computer&#10;&#10;AI-generated content may be incorrect.">
            <a:extLst>
              <a:ext uri="{FF2B5EF4-FFF2-40B4-BE49-F238E27FC236}">
                <a16:creationId xmlns:a16="http://schemas.microsoft.com/office/drawing/2014/main" id="{A48BB67F-3991-90B1-A45C-BF005C57EAA8}"/>
              </a:ext>
            </a:extLst>
          </p:cNvPr>
          <p:cNvPicPr>
            <a:picLocks noChangeAspect="1"/>
          </p:cNvPicPr>
          <p:nvPr/>
        </p:nvPicPr>
        <p:blipFill>
          <a:blip r:embed="rId3"/>
          <a:stretch>
            <a:fillRect/>
          </a:stretch>
        </p:blipFill>
        <p:spPr>
          <a:xfrm>
            <a:off x="880422" y="3342304"/>
            <a:ext cx="8085521" cy="1379340"/>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t>:   </a:t>
            </a:r>
            <a:r>
              <a:rPr lang="en-US" sz="2400" dirty="0"/>
              <a:t>DS289</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154A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GB" sz="2400" b="0" dirty="0">
                <a:latin typeface="Calibri"/>
                <a:cs typeface="Calibri"/>
              </a:rPr>
              <a:t>It allows us to compare how flight prices differ based on the city where the flight arrives.</a:t>
            </a:r>
            <a:r>
              <a:rPr lang="en-GB" sz="2400" dirty="0"/>
              <a:t/>
            </a:r>
            <a:br>
              <a:rPr lang="en-GB" sz="2400" dirty="0"/>
            </a:br>
            <a:r>
              <a:rPr lang="en-US" sz="2400" b="0" dirty="0">
                <a:latin typeface="Calibri" panose="020F0502020204030204" pitchFamily="34" charset="0"/>
                <a:cs typeface="Calibri" panose="020F0502020204030204" pitchFamily="34" charset="0"/>
              </a:rPr>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GB" sz="2400" b="0" dirty="0" err="1">
                <a:latin typeface="Calibri"/>
                <a:cs typeface="Calibri"/>
              </a:rPr>
              <a:t>ArrivingCity</a:t>
            </a:r>
            <a:r>
              <a:rPr lang="en-US" sz="2400" b="0" dirty="0">
                <a:latin typeface="Calibri"/>
                <a:cs typeface="Calibri"/>
              </a:rPr>
              <a:t/>
            </a:r>
            <a:br>
              <a:rPr lang="en-US" sz="2400" b="0" dirty="0">
                <a:latin typeface="Calibri"/>
                <a:cs typeface="Calibri"/>
              </a:rPr>
            </a:br>
            <a:r>
              <a:rPr lang="en-US" sz="2400" b="0" dirty="0">
                <a:latin typeface="Calibri"/>
                <a:cs typeface="Calibri"/>
              </a:rPr>
              <a:t>	This  Independent variable datatype is (select one): Nominal/categorial</a:t>
            </a:r>
            <a:br>
              <a:rPr lang="en-US" sz="2400" b="0" dirty="0">
                <a:latin typeface="Calibri"/>
                <a:cs typeface="Calibri"/>
              </a:rPr>
            </a:br>
            <a:r>
              <a:rPr lang="en-US" sz="2400" b="0" dirty="0">
                <a:latin typeface="Calibri"/>
                <a:cs typeface="Calibri"/>
              </a:rPr>
              <a:t>Our Dependent variable is: </a:t>
            </a:r>
            <a:r>
              <a:rPr lang="en-GB" sz="2400" b="0" dirty="0">
                <a:latin typeface="Calibri"/>
                <a:cs typeface="Calibri"/>
              </a:rPr>
              <a:t>Price</a:t>
            </a:r>
            <a:r>
              <a:rPr lang="en-US" sz="2400" b="0" dirty="0">
                <a:latin typeface="Calibri"/>
                <a:cs typeface="Calibri"/>
              </a:rPr>
              <a:t/>
            </a:r>
            <a:br>
              <a:rPr lang="en-US" sz="2400" b="0" dirty="0">
                <a:latin typeface="Calibri"/>
                <a:cs typeface="Calibri"/>
              </a:rPr>
            </a:br>
            <a:r>
              <a:rPr lang="en-US" sz="2400" b="0" dirty="0">
                <a:latin typeface="Calibri"/>
                <a:cs typeface="Calibri"/>
              </a:rPr>
              <a:t>                   This Dependent variable datatype is  (select one): Interval/measurement</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154A</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dirty="0">
                <a:effectLst/>
                <a:latin typeface="Calibri" panose="020F0502020204030204" pitchFamily="34" charset="0"/>
                <a:ea typeface="Calibri" panose="020F0502020204030204" pitchFamily="34" charset="0"/>
                <a:cs typeface="Times New Roman" panose="02020603050405020304" pitchFamily="18" charset="0"/>
              </a:rPr>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dirty="0">
                <a:effectLst/>
                <a:latin typeface="Calibri" panose="020F0502020204030204" pitchFamily="34" charset="0"/>
                <a:ea typeface="Calibri" panose="020F0502020204030204" pitchFamily="34" charset="0"/>
                <a:cs typeface="Times New Roman" panose="02020603050405020304" pitchFamily="18" charset="0"/>
              </a:rPr>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b="0" dirty="0">
                <a:effectLst/>
                <a:latin typeface="Calibri"/>
                <a:ea typeface="Calibri" panose="020F0502020204030204" pitchFamily="34" charset="0"/>
                <a:cs typeface="Times New Roman"/>
              </a:rPr>
              <a:t>“Is there a difference in the mean of  prices between</a:t>
            </a:r>
            <a:r>
              <a:rPr lang="en-IE" sz="2400" b="0" dirty="0">
                <a:latin typeface="Calibri"/>
                <a:ea typeface="Calibri" panose="020F0502020204030204" pitchFamily="34" charset="0"/>
                <a:cs typeface="Times New Roman"/>
              </a:rPr>
              <a:t>  flights arriving in Hyderabad and Delhi?</a:t>
            </a:r>
            <a:r>
              <a:rPr lang="en-IE" sz="2400" b="0" dirty="0">
                <a:effectLst/>
                <a:latin typeface="Calibri"/>
                <a:ea typeface="Calibri" panose="020F0502020204030204" pitchFamily="34" charset="0"/>
                <a:cs typeface="Times New Roman"/>
              </a:rPr>
              <a:t>”.</a:t>
            </a:r>
            <a:r>
              <a:rPr lang="en-GB" sz="2400" b="0" dirty="0">
                <a:effectLst/>
                <a:latin typeface="Calibri" panose="020F0502020204030204" pitchFamily="34" charset="0"/>
                <a:ea typeface="Calibri" panose="020F0502020204030204" pitchFamily="34" charset="0"/>
                <a:cs typeface="Times New Roman" panose="02020603050405020304" pitchFamily="18" charset="0"/>
              </a:rPr>
              <a:t/>
            </a:r>
            <a:br>
              <a:rPr lang="en-GB" sz="2400" b="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1769165"/>
            <a:ext cx="10406581" cy="2862470"/>
          </a:xfrm>
        </p:spPr>
        <p:txBody>
          <a:bodyPr vert="horz" lIns="0" tIns="0" rIns="0" bIns="0" rtlCol="0" anchor="t">
            <a:noAutofit/>
          </a:bodyPr>
          <a:lstStyle/>
          <a:p>
            <a:pPr>
              <a:lnSpc>
                <a:spcPct val="100000"/>
              </a:lnSpc>
            </a:pPr>
            <a:r>
              <a:rPr lang="en-GB" sz="2000" b="0" dirty="0">
                <a:cs typeface="Arial"/>
              </a:rPr>
              <a:t>Null hypothesis (H</a:t>
            </a:r>
            <a:r>
              <a:rPr lang="en-GB" sz="2000" b="0" baseline="-25000" dirty="0">
                <a:cs typeface="Arial"/>
              </a:rPr>
              <a:t>0</a:t>
            </a:r>
            <a:r>
              <a:rPr lang="en-GB" sz="2000" b="0" dirty="0">
                <a:cs typeface="Arial"/>
              </a:rPr>
              <a:t>): There is no </a:t>
            </a:r>
            <a:r>
              <a:rPr lang="en-IE" sz="2000" b="0" dirty="0">
                <a:latin typeface="Calibri"/>
                <a:ea typeface="Calibri" panose="020F0502020204030204" pitchFamily="34" charset="0"/>
                <a:cs typeface="Times New Roman"/>
              </a:rPr>
              <a:t>difference in the mean of  prices between  flights arriving in Hyderabad and Delhi.</a:t>
            </a:r>
            <a:endParaRPr lang="en-GB" sz="2000" b="0" dirty="0">
              <a:cs typeface="Arial"/>
            </a:endParaRPr>
          </a:p>
          <a:p>
            <a:pPr>
              <a:lnSpc>
                <a:spcPct val="100000"/>
              </a:lnSpc>
            </a:pPr>
            <a:r>
              <a:rPr lang="en-GB" sz="2000" b="0" dirty="0">
                <a:cs typeface="Arial"/>
              </a:rPr>
              <a:t>Alternative hypothesis (H</a:t>
            </a:r>
            <a:r>
              <a:rPr lang="en-GB" sz="2000" b="0" baseline="-25000" dirty="0">
                <a:cs typeface="Arial"/>
              </a:rPr>
              <a:t>1</a:t>
            </a:r>
            <a:r>
              <a:rPr lang="en-GB" sz="2000" b="0" dirty="0">
                <a:cs typeface="Arial"/>
              </a:rPr>
              <a:t>): There is </a:t>
            </a:r>
            <a:r>
              <a:rPr lang="en-IE" sz="2000" b="0" dirty="0">
                <a:latin typeface="Calibri"/>
                <a:ea typeface="Calibri" panose="020F0502020204030204" pitchFamily="34" charset="0"/>
                <a:cs typeface="Times New Roman"/>
              </a:rPr>
              <a:t>a difference in the mean of  prices between  flights arriving in                                             Hyderabad and Delhi</a:t>
            </a:r>
            <a:endParaRPr lang="en-GB" sz="2000" b="0" dirty="0">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TotalTime>
  <Words>304</Words>
  <Application>Microsoft Office PowerPoint</Application>
  <PresentationFormat>Widescreen</PresentationFormat>
  <Paragraphs>30</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Times New Roman</vt:lpstr>
      <vt:lpstr>Herts Theme</vt:lpstr>
      <vt:lpstr>Research Question –  Tutorial Presentation for Feedback Date: 01/12/2025 </vt:lpstr>
      <vt:lpstr>Flight ArrivingCity and Price are the colums we want to use for out research question. The dataset contains 59 rows. Here are the head (first 5 rows)of the dataset:  </vt:lpstr>
      <vt:lpstr>This dataset is interesting to us because: It allows us to compare how flight prices differ based on the city where the flight arrives.  Our  Independent variable is: ArrivingCity  This  Independent variable datatype is (select one): Nominal/categorial Our Dependent variable is: Price                    This Dependent variable datatype is  (select one): Interval/measurement</vt:lpstr>
      <vt:lpstr>  “Is there a difference in the mean of  prices between  flights arriving in Hyderabad and Delhi?”.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HP</cp:lastModifiedBy>
  <cp:revision>121</cp:revision>
  <dcterms:created xsi:type="dcterms:W3CDTF">2019-10-01T08:37:56Z</dcterms:created>
  <dcterms:modified xsi:type="dcterms:W3CDTF">2025-12-10T17:52:05Z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y fmtid="{D5CDD505-2E9C-101B-9397-08002B2CF9AE}" pid="3" name="MSIP_Label_4303970c-2473-4b42-81b5-53b5ff7935b8_Enabled">
    <vt:lpwstr>true</vt:lpwstr>
  </property>
  <property fmtid="{D5CDD505-2E9C-101B-9397-08002B2CF9AE}" pid="4" name="MSIP_Label_4303970c-2473-4b42-81b5-53b5ff7935b8_SetDate">
    <vt:lpwstr>2025-11-26T21:05:58Z</vt:lpwstr>
  </property>
  <property fmtid="{D5CDD505-2E9C-101B-9397-08002B2CF9AE}" pid="5" name="MSIP_Label_4303970c-2473-4b42-81b5-53b5ff7935b8_Method">
    <vt:lpwstr>Privileged</vt:lpwstr>
  </property>
  <property fmtid="{D5CDD505-2E9C-101B-9397-08002B2CF9AE}" pid="6" name="MSIP_Label_4303970c-2473-4b42-81b5-53b5ff7935b8_Name">
    <vt:lpwstr>Public</vt:lpwstr>
  </property>
  <property fmtid="{D5CDD505-2E9C-101B-9397-08002B2CF9AE}" pid="7" name="MSIP_Label_4303970c-2473-4b42-81b5-53b5ff7935b8_SiteId">
    <vt:lpwstr>b8d5850c-e89a-4a4a-95da-60b09545d189</vt:lpwstr>
  </property>
  <property fmtid="{D5CDD505-2E9C-101B-9397-08002B2CF9AE}" pid="8" name="MSIP_Label_4303970c-2473-4b42-81b5-53b5ff7935b8_ActionId">
    <vt:lpwstr>05dd1680-6cfd-4265-b319-9cb44c9d4016</vt:lpwstr>
  </property>
  <property fmtid="{D5CDD505-2E9C-101B-9397-08002B2CF9AE}" pid="9" name="MSIP_Label_4303970c-2473-4b42-81b5-53b5ff7935b8_ContentBits">
    <vt:lpwstr>0</vt:lpwstr>
  </property>
  <property fmtid="{D5CDD505-2E9C-101B-9397-08002B2CF9AE}" pid="10" name="MSIP_Label_4303970c-2473-4b42-81b5-53b5ff7935b8_Tag">
    <vt:lpwstr>10, 0, 1, 1</vt:lpwstr>
  </property>
</Properties>
</file>